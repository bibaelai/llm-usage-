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61" r:id="rId14"/>
    <p:sldId id="262" r:id="rId15"/>
    <p:sldId id="263" r:id="rId16"/>
    <p:sldId id="264" r:id="rId17"/>
    <p:sldId id="265" r:id="rId18"/>
    <p:sldId id="266" r:id="rId19"/>
    <p:sldId id="275" r:id="rId20"/>
    <p:sldId id="276" r:id="rId21"/>
    <p:sldId id="277" r:id="rId22"/>
    <p:sldId id="278" r:id="rId23"/>
    <p:sldId id="267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95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17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4822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Façons </a:t>
            </a:r>
            <a:r>
              <a:rPr lang="en-US" sz="48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d'Utiliser</a:t>
            </a:r>
            <a:r>
              <a:rPr lang="en-US" sz="4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les LLMs</a:t>
            </a:r>
            <a:endParaRPr lang="en-US" sz="4800"/>
          </a:p>
        </p:txBody>
      </p:sp>
      <p:sp>
        <p:nvSpPr>
          <p:cNvPr id="4" name="Text 2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prompting simple à la construction de systèmes IA d'entreprise</a:t>
            </a:r>
            <a:endParaRPr lang="en-US" sz="180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Shape 4"/>
          <p:cNvSpPr/>
          <p:nvPr/>
        </p:nvSpPr>
        <p:spPr>
          <a:xfrm>
            <a:off x="228600" y="365760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Text 5"/>
          <p:cNvSpPr/>
          <p:nvPr/>
        </p:nvSpPr>
        <p:spPr>
          <a:xfrm>
            <a:off x="228600" y="36576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1984248" y="365760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9" name="Text 7"/>
          <p:cNvSpPr/>
          <p:nvPr/>
        </p:nvSpPr>
        <p:spPr>
          <a:xfrm>
            <a:off x="1984248" y="36576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739896" y="365760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739896" y="36576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Entreprise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495544" y="365760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3" name="Text 11"/>
          <p:cNvSpPr/>
          <p:nvPr/>
        </p:nvSpPr>
        <p:spPr>
          <a:xfrm>
            <a:off x="5495544" y="36576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IA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7251192" y="3657600"/>
            <a:ext cx="1572768" cy="402336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5" name="Text 13"/>
          <p:cNvSpPr/>
          <p:nvPr/>
        </p:nvSpPr>
        <p:spPr>
          <a:xfrm>
            <a:off x="7251192" y="3657600"/>
            <a:ext cx="1572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FD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plupart ne connaissent que les deux premières — explorons-les toutes.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>
                <a:solidFill>
                  <a:srgbClr val="06B6D4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méthode la plus connue pour utiliser un LLM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01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 — Dialoguer avec une IA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182880" y="1033272"/>
            <a:ext cx="54864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des instructions en langage naturel pour qu'une IA accomplisse une tâche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2880" y="1691640"/>
            <a:ext cx="54864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code requis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monde </a:t>
            </a:r>
            <a:r>
              <a:rPr lang="en-US" sz="110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</a:t>
            </a: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l'utiliser</a:t>
            </a: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Les </a:t>
            </a:r>
            <a:r>
              <a:rPr lang="en-US" sz="1100" err="1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étudiants</a:t>
            </a: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rédacteurs, professionnels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54864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36576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compétences comptent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65760" y="2551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meilleurs prompts = des résultats bien meilleurs (prompt engineering)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92040" y="914400"/>
            <a:ext cx="406908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7" name="Shape 15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6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Exemple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Claude.ai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62356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Écrire, résumer, traduire, brainstormer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56235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Zéro-Shot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2356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"Explique ce concept à un enfant de 10 ans"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de pensée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62356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"Réfléchis étape par étape avant de répondre"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Text 31"/>
          <p:cNvSpPr/>
          <p:nvPr/>
        </p:nvSpPr>
        <p:spPr>
          <a:xfrm>
            <a:off x="56235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système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623560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à l'IA une personnalité ou un ensemble de règles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>
                <a:solidFill>
                  <a:srgbClr val="1A56DB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logiciels en décrivant ce qu'on veut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02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Vibe Coding — Développement Assisté par IA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182880" y="1033272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l'IA pour écrire, déboguer et expliquer du code en temps réel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2880" y="1691640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Abaisse la barrière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non-développeurs peuvent créer des applis fonctionnelles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54864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36576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Accélère les pros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65760" y="2551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devs expérimentés vont 2 à 5× plus vite avec l'IA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92040" y="914400"/>
            <a:ext cx="406908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1A56D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7" name="Shape 15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6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Exemple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62356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Auto-complétion IA dans votre éditeur de code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56235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/ Windsurf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2356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IDEs entièrement natifs IA pour le vibe coding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/ Lovable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62356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Décrivez une appli → obtenez du code instantanément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Text 31"/>
          <p:cNvSpPr/>
          <p:nvPr/>
        </p:nvSpPr>
        <p:spPr>
          <a:xfrm>
            <a:off x="56235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623560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Codage agentique en ligne de commande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igNum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9600" b="1">
                <a:solidFill>
                  <a:srgbClr val="7C3AED">
                    <a:alpha val="80000"/>
                  </a:srgbClr>
                </a:solidFill>
                <a:latin typeface="Arial Black" pitchFamily="34" charset="0"/>
              </a:rPr>
              <a:t>2+</a:t>
            </a:r>
          </a:p>
        </p:txBody>
      </p:sp>
      <p:sp>
        <p:nvSpPr>
          <p:cNvPr id="5" name="Title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800" b="1">
                <a:solidFill>
                  <a:srgbClr val="FFFFFF"/>
                </a:solidFill>
                <a:latin typeface="Arial Black" pitchFamily="34" charset="0"/>
              </a:rPr>
              <a:t>Le Vibe Coding en Profondeur</a:t>
            </a:r>
          </a:p>
        </p:txBody>
      </p:sp>
      <p:sp>
        <p:nvSpPr>
          <p:cNvPr id="6" name="Subtitle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i="1">
                <a:solidFill>
                  <a:srgbClr val="7C3AED"/>
                </a:solidFill>
                <a:latin typeface="Calibri" pitchFamily="34" charset="0"/>
              </a:rPr>
              <a:t>Origine, risques, et quand l'utiliser</a:t>
            </a:r>
          </a:p>
        </p:txBody>
      </p:sp>
      <p:sp>
        <p:nvSpPr>
          <p:cNvPr id="7" name="Line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Vibe Coding — Origine &amp; Définition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Bar10"/>
          <p:cNvSpPr/>
          <p:nvPr/>
        </p:nvSpPr>
        <p:spPr>
          <a:xfrm>
            <a:off x="182880" y="1000000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Head11"/>
          <p:cNvSpPr/>
          <p:nvPr/>
        </p:nvSpPr>
        <p:spPr>
          <a:xfrm>
            <a:off x="310000" y="10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Inventé par Andrej Karpathy (fév. 2025)</a:t>
            </a:r>
          </a:p>
        </p:txBody>
      </p:sp>
      <p:sp>
        <p:nvSpPr>
          <p:cNvPr id="12" name="Body12"/>
          <p:cNvSpPr/>
          <p:nvPr/>
        </p:nvSpPr>
        <p:spPr>
          <a:xfrm>
            <a:off x="310000" y="12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Post X viral : coder en décrivant : l'IA génère tout le code à votre place</a:t>
            </a:r>
          </a:p>
        </p:txBody>
      </p:sp>
      <p:sp>
        <p:nvSpPr>
          <p:cNvPr id="13" name="Bar13"/>
          <p:cNvSpPr/>
          <p:nvPr/>
        </p:nvSpPr>
        <p:spPr>
          <a:xfrm>
            <a:off x="182880" y="1600000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16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Le principe fondamental</a:t>
            </a:r>
          </a:p>
        </p:txBody>
      </p:sp>
      <p:sp>
        <p:nvSpPr>
          <p:cNvPr id="15" name="Body15"/>
          <p:cNvSpPr/>
          <p:nvPr/>
        </p:nvSpPr>
        <p:spPr>
          <a:xfrm>
            <a:off x="310000" y="18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Vous abandonnez totalement aux </a:t>
            </a:r>
            <a:r>
              <a:rPr lang="fr-FR" sz="1050" err="1">
                <a:solidFill>
                  <a:srgbClr val="8899BB"/>
                </a:solidFill>
                <a:latin typeface="Calibri" pitchFamily="34" charset="0"/>
              </a:rPr>
              <a:t>vibes</a:t>
            </a: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. vous décrivez, l'IA génère, vous itérez</a:t>
            </a:r>
          </a:p>
        </p:txBody>
      </p:sp>
      <p:sp>
        <p:nvSpPr>
          <p:cNvPr id="16" name="Bar16"/>
          <p:cNvSpPr/>
          <p:nvPr/>
        </p:nvSpPr>
        <p:spPr>
          <a:xfrm>
            <a:off x="182880" y="2200000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22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Orchestrateur, pas codeur</a:t>
            </a:r>
          </a:p>
        </p:txBody>
      </p:sp>
      <p:sp>
        <p:nvSpPr>
          <p:cNvPr id="18" name="Body18"/>
          <p:cNvSpPr/>
          <p:nvPr/>
        </p:nvSpPr>
        <p:spPr>
          <a:xfrm>
            <a:off x="310000" y="24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Les vibe coders gèrent des idées, pas de la syntaxe, l'IA s'occupe du reste</a:t>
            </a:r>
          </a:p>
        </p:txBody>
      </p:sp>
      <p:sp>
        <p:nvSpPr>
          <p:cNvPr id="19" name="Bar19"/>
          <p:cNvSpPr/>
          <p:nvPr/>
        </p:nvSpPr>
        <p:spPr>
          <a:xfrm>
            <a:off x="182880" y="2800000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Head20"/>
          <p:cNvSpPr/>
          <p:nvPr/>
        </p:nvSpPr>
        <p:spPr>
          <a:xfrm>
            <a:off x="310000" y="28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"You fully give in to the vibes..."</a:t>
            </a:r>
          </a:p>
        </p:txBody>
      </p:sp>
      <p:sp>
        <p:nvSpPr>
          <p:cNvPr id="21" name="Body21"/>
          <p:cNvSpPr/>
          <p:nvPr/>
        </p:nvSpPr>
        <p:spPr>
          <a:xfrm>
            <a:off x="310000" y="30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Karpathy : "Oublie que le code existe,  laisse l'IA faire le travail"</a:t>
            </a:r>
          </a:p>
        </p:txBody>
      </p:sp>
      <p:sp>
        <p:nvSpPr>
          <p:cNvPr id="22" name="QuoteBox"/>
          <p:cNvSpPr/>
          <p:nvPr/>
        </p:nvSpPr>
        <p:spPr>
          <a:xfrm>
            <a:off x="5074920" y="1000000"/>
            <a:ext cx="3750000" cy="3700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80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QuoteTxt"/>
          <p:cNvSpPr/>
          <p:nvPr/>
        </p:nvSpPr>
        <p:spPr>
          <a:xfrm>
            <a:off x="5174920" y="1100000"/>
            <a:ext cx="3550000" cy="3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2800">
                <a:solidFill>
                  <a:srgbClr val="7C3AED"/>
                </a:solidFill>
              </a:rPr>
              <a:t>💬</a:t>
            </a:r>
          </a:p>
          <a:p>
            <a:pPr marL="0" indent="0">
              <a:buNone/>
            </a:pPr>
            <a:r>
              <a:rPr lang="fr-FR" sz="1100" i="1">
                <a:solidFill>
                  <a:srgbClr val="CCDDFF"/>
                </a:solidFill>
                <a:latin typeface="Calibri" pitchFamily="34" charset="0"/>
              </a:rPr>
              <a:t>"You fully give in to the vibes, embrace exponentials and forget that the code even exists."</a:t>
            </a:r>
          </a:p>
          <a:p>
            <a:pPr marL="0" indent="0">
              <a:buNone/>
            </a:pPr>
            <a:r>
              <a:rPr lang="fr-FR" sz="950" b="1">
                <a:solidFill>
                  <a:srgbClr val="7C3AED"/>
                </a:solidFill>
                <a:latin typeface="Calibri" pitchFamily="34" charset="0"/>
              </a:rPr>
              <a:t>— Andrej Karpathy, Fév. 2025</a:t>
            </a:r>
          </a:p>
          <a:p>
            <a:pPr marL="0" indent="0">
              <a:buNone/>
            </a:pPr>
            <a:r>
              <a:rPr lang="fr-FR" sz="950">
                <a:solidFill>
                  <a:srgbClr val="8899BB"/>
                </a:solidFill>
                <a:latin typeface="Calibri" pitchFamily="34" charset="0"/>
              </a:rPr>
              <a:t>Ex-directeur IA chez Tesla, co-fondateur d'OpenAI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Le Vibe Coding — Quand ça Tourne Mal ⚠️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Bar10"/>
          <p:cNvSpPr/>
          <p:nvPr/>
        </p:nvSpPr>
        <p:spPr>
          <a:xfrm>
            <a:off x="182880" y="1000000"/>
            <a:ext cx="54864" cy="31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Head11"/>
          <p:cNvSpPr/>
          <p:nvPr/>
        </p:nvSpPr>
        <p:spPr>
          <a:xfrm>
            <a:off x="310000" y="10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Un cas réel : l’authentification en spaghetti</a:t>
            </a:r>
          </a:p>
        </p:txBody>
      </p:sp>
      <p:sp>
        <p:nvSpPr>
          <p:cNvPr id="12" name="Body12"/>
          <p:cNvSpPr/>
          <p:nvPr/>
        </p:nvSpPr>
        <p:spPr>
          <a:xfrm>
            <a:off x="310000" y="12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Une équipe a laissé un dév vibe-coder tout un système d’auth en quelques minutes</a:t>
            </a:r>
          </a:p>
        </p:txBody>
      </p:sp>
      <p:sp>
        <p:nvSpPr>
          <p:cNvPr id="13" name="Bar13"/>
          <p:cNvSpPr/>
          <p:nvPr/>
        </p:nvSpPr>
        <p:spPr>
          <a:xfrm>
            <a:off x="182880" y="1580000"/>
            <a:ext cx="54864" cy="31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158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Au début : tout le monde applaudissait</a:t>
            </a:r>
          </a:p>
        </p:txBody>
      </p:sp>
      <p:sp>
        <p:nvSpPr>
          <p:cNvPr id="15" name="Body15"/>
          <p:cNvSpPr/>
          <p:nvPr/>
        </p:nvSpPr>
        <p:spPr>
          <a:xfrm>
            <a:off x="310000" y="182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"Les clients étaient ravis, tout le monde se félicitait" .Manager ingénierie</a:t>
            </a:r>
          </a:p>
        </p:txBody>
      </p:sp>
      <p:sp>
        <p:nvSpPr>
          <p:cNvPr id="16" name="Bar16"/>
          <p:cNvSpPr/>
          <p:nvPr/>
        </p:nvSpPr>
        <p:spPr>
          <a:xfrm>
            <a:off x="182880" y="2160000"/>
            <a:ext cx="54864" cy="31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216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Puis les exigences ont changé...</a:t>
            </a:r>
          </a:p>
        </p:txBody>
      </p:sp>
      <p:sp>
        <p:nvSpPr>
          <p:cNvPr id="18" name="Body18"/>
          <p:cNvSpPr/>
          <p:nvPr/>
        </p:nvSpPr>
        <p:spPr>
          <a:xfrm>
            <a:off x="310000" y="240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Nouveaux rôles et règles de confidentialité régionales .Le système s'est effondré</a:t>
            </a:r>
          </a:p>
        </p:txBody>
      </p:sp>
      <p:sp>
        <p:nvSpPr>
          <p:cNvPr id="19" name="Bar19"/>
          <p:cNvSpPr/>
          <p:nvPr/>
        </p:nvSpPr>
        <p:spPr>
          <a:xfrm>
            <a:off x="182880" y="2740000"/>
            <a:ext cx="54864" cy="31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Head20"/>
          <p:cNvSpPr/>
          <p:nvPr/>
        </p:nvSpPr>
        <p:spPr>
          <a:xfrm>
            <a:off x="310000" y="274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Conclusion : tout réécrire from scratch</a:t>
            </a:r>
          </a:p>
        </p:txBody>
      </p:sp>
      <p:sp>
        <p:nvSpPr>
          <p:cNvPr id="21" name="Body21"/>
          <p:cNvSpPr/>
          <p:nvPr/>
        </p:nvSpPr>
        <p:spPr>
          <a:xfrm>
            <a:off x="310000" y="31035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Déboguer le code IA était "comme de l'archéologie" .Pas de modèle mental, juste des vibes</a:t>
            </a:r>
          </a:p>
        </p:txBody>
      </p:sp>
      <p:sp>
        <p:nvSpPr>
          <p:cNvPr id="22" name="AlertBox"/>
          <p:cNvSpPr/>
          <p:nvPr/>
        </p:nvSpPr>
        <p:spPr>
          <a:xfrm>
            <a:off x="5149378" y="2252840"/>
            <a:ext cx="3675541" cy="2067700"/>
          </a:xfrm>
          <a:prstGeom prst="roundRect">
            <a:avLst>
              <a:gd name="adj" fmla="val 5000"/>
            </a:avLst>
          </a:prstGeom>
          <a:solidFill>
            <a:srgbClr val="2A1414"/>
          </a:solidFill>
          <a:ln w="180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AlertTxt"/>
          <p:cNvSpPr/>
          <p:nvPr/>
        </p:nvSpPr>
        <p:spPr>
          <a:xfrm>
            <a:off x="5174920" y="2390000"/>
            <a:ext cx="3550000" cy="221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2800">
                <a:solidFill>
                  <a:srgbClr val="EF4444"/>
                </a:solidFill>
              </a:rPr>
              <a:t>⚠️</a:t>
            </a:r>
          </a:p>
          <a:p>
            <a:pPr marL="0" indent="0">
              <a:buNone/>
            </a:pPr>
            <a:r>
              <a:rPr lang="fr-FR" sz="1300" b="1">
                <a:solidFill>
                  <a:srgbClr val="EF4444"/>
                </a:solidFill>
                <a:latin typeface="Calibri" pitchFamily="34" charset="0"/>
              </a:rPr>
              <a:t>Le vrai danger</a:t>
            </a:r>
          </a:p>
          <a:p>
            <a:pPr marL="0" indent="0">
              <a:buNone/>
            </a:pPr>
            <a:r>
              <a:rPr lang="fr-FR" sz="1000">
                <a:solidFill>
                  <a:srgbClr val="FFAAAA"/>
                </a:solidFill>
                <a:latin typeface="Calibri" pitchFamily="34" charset="0"/>
              </a:rPr>
              <a:t>• Middleware dispersé sur 6 fichiers</a:t>
            </a:r>
          </a:p>
          <a:p>
            <a:pPr marL="0" indent="0">
              <a:buNone/>
            </a:pPr>
            <a:r>
              <a:rPr lang="fr-FR" sz="1000">
                <a:solidFill>
                  <a:srgbClr val="FFAAAA"/>
                </a:solidFill>
                <a:latin typeface="Calibri" pitchFamily="34" charset="0"/>
              </a:rPr>
              <a:t>• Aucun modèle mental, juste des vibes</a:t>
            </a:r>
          </a:p>
          <a:p>
            <a:pPr marL="0" indent="0">
              <a:buNone/>
            </a:pPr>
            <a:r>
              <a:rPr lang="fr-FR" sz="1000">
                <a:solidFill>
                  <a:srgbClr val="FFAAAA"/>
                </a:solidFill>
                <a:latin typeface="Calibri" pitchFamily="34" charset="0"/>
              </a:rPr>
              <a:t>• Réécriture complète = semaines perdues</a:t>
            </a:r>
          </a:p>
          <a:p>
            <a:pPr marL="0" indent="0">
              <a:buNone/>
            </a:pPr>
            <a:r>
              <a:rPr lang="fr-FR" sz="950" i="1">
                <a:solidFill>
                  <a:srgbClr val="8899BB"/>
                </a:solidFill>
                <a:latin typeface="Calibri" pitchFamily="34" charset="0"/>
              </a:rPr>
              <a:t>Source : </a:t>
            </a:r>
            <a:r>
              <a:rPr lang="fr-FR" sz="950" i="1" err="1">
                <a:solidFill>
                  <a:srgbClr val="8899BB"/>
                </a:solidFill>
                <a:latin typeface="Calibri" pitchFamily="34" charset="0"/>
              </a:rPr>
              <a:t>finalroundai.com</a:t>
            </a:r>
            <a:r>
              <a:rPr lang="fr-FR" sz="950" i="1">
                <a:solidFill>
                  <a:srgbClr val="8899BB"/>
                </a:solidFill>
                <a:latin typeface="Calibri" pitchFamily="34" charset="0"/>
              </a:rPr>
              <a:t>  Témoignage d'un engineering manager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Maîtriser le Débogage — La Compétence Clé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MainMsg"/>
          <p:cNvSpPr/>
          <p:nvPr/>
        </p:nvSpPr>
        <p:spPr>
          <a:xfrm>
            <a:off x="182880" y="1000000"/>
            <a:ext cx="465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50" b="1">
                <a:solidFill>
                  <a:srgbClr val="F59E0B"/>
                </a:solidFill>
                <a:latin typeface="Arial Black" pitchFamily="34" charset="0"/>
              </a:rPr>
              <a:t>Tout le monde peut coder — personne ne sait déboguer</a:t>
            </a:r>
          </a:p>
        </p:txBody>
      </p:sp>
      <p:sp>
        <p:nvSpPr>
          <p:cNvPr id="13" name="Bar13"/>
          <p:cNvSpPr/>
          <p:nvPr/>
        </p:nvSpPr>
        <p:spPr>
          <a:xfrm>
            <a:off x="182880" y="1700000"/>
            <a:ext cx="54864" cy="31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17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Le problème avec le vibe coding</a:t>
            </a:r>
          </a:p>
        </p:txBody>
      </p:sp>
      <p:sp>
        <p:nvSpPr>
          <p:cNvPr id="15" name="Body15"/>
          <p:cNvSpPr/>
          <p:nvPr/>
        </p:nvSpPr>
        <p:spPr>
          <a:xfrm>
            <a:off x="310000" y="19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L'IA génère du code. Mais quand ça casse, c'est vous qui devez comprendre</a:t>
            </a:r>
          </a:p>
        </p:txBody>
      </p:sp>
      <p:sp>
        <p:nvSpPr>
          <p:cNvPr id="16" name="Bar16"/>
          <p:cNvSpPr/>
          <p:nvPr/>
        </p:nvSpPr>
        <p:spPr>
          <a:xfrm>
            <a:off x="182880" y="2280000"/>
            <a:ext cx="54864" cy="31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228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Déboguer = comprendre</a:t>
            </a:r>
          </a:p>
        </p:txBody>
      </p:sp>
      <p:sp>
        <p:nvSpPr>
          <p:cNvPr id="18" name="Body18"/>
          <p:cNvSpPr/>
          <p:nvPr/>
        </p:nvSpPr>
        <p:spPr>
          <a:xfrm>
            <a:off x="310000" y="252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Sans compréhension du code, le débogage devient une archéologie sans carte</a:t>
            </a:r>
          </a:p>
        </p:txBody>
      </p:sp>
      <p:sp>
        <p:nvSpPr>
          <p:cNvPr id="19" name="Bar19"/>
          <p:cNvSpPr/>
          <p:nvPr/>
        </p:nvSpPr>
        <p:spPr>
          <a:xfrm>
            <a:off x="182880" y="2860000"/>
            <a:ext cx="54864" cy="31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Head20"/>
          <p:cNvSpPr/>
          <p:nvPr/>
        </p:nvSpPr>
        <p:spPr>
          <a:xfrm>
            <a:off x="310000" y="286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La vraie compétence rare</a:t>
            </a:r>
          </a:p>
        </p:txBody>
      </p:sp>
      <p:sp>
        <p:nvSpPr>
          <p:cNvPr id="21" name="Body21"/>
          <p:cNvSpPr/>
          <p:nvPr/>
        </p:nvSpPr>
        <p:spPr>
          <a:xfrm>
            <a:off x="310000" y="310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Comprendre, tracer, isoler et corriger un bug dans du code généré par IA</a:t>
            </a:r>
          </a:p>
        </p:txBody>
      </p:sp>
      <p:sp>
        <p:nvSpPr>
          <p:cNvPr id="22" name="StatBox"/>
          <p:cNvSpPr/>
          <p:nvPr/>
        </p:nvSpPr>
        <p:spPr>
          <a:xfrm>
            <a:off x="5074920" y="1000000"/>
            <a:ext cx="3750000" cy="3700000"/>
          </a:xfrm>
          <a:prstGeom prst="roundRect">
            <a:avLst>
              <a:gd name="adj" fmla="val 5000"/>
            </a:avLst>
          </a:prstGeom>
          <a:solidFill>
            <a:srgbClr val="1A1A0A"/>
          </a:solidFill>
          <a:ln w="180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StatTxt"/>
          <p:cNvSpPr/>
          <p:nvPr/>
        </p:nvSpPr>
        <p:spPr>
          <a:xfrm>
            <a:off x="5174920" y="1100000"/>
            <a:ext cx="3550000" cy="35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4800">
                <a:solidFill>
                  <a:srgbClr val="000000"/>
                </a:solidFill>
              </a:rPr>
              <a:t>🐛</a:t>
            </a:r>
          </a:p>
          <a:p>
            <a:pPr marL="0" indent="0" algn="ctr">
              <a:buNone/>
            </a:pPr>
            <a:r>
              <a:rPr lang="fr-FR" sz="1200" b="1">
                <a:solidFill>
                  <a:srgbClr val="F59E0B"/>
                </a:solidFill>
                <a:latin typeface="Calibri" pitchFamily="34" charset="0"/>
              </a:rPr>
              <a:t>Déboguer &gt; Coder</a:t>
            </a:r>
          </a:p>
          <a:p>
            <a:pPr marL="0" indent="0" algn="ctr">
              <a:buNone/>
            </a:pPr>
            <a:r>
              <a:rPr lang="fr-FR" sz="950">
                <a:solidFill>
                  <a:srgbClr val="CCCCAA"/>
                </a:solidFill>
                <a:latin typeface="Calibri" pitchFamily="34" charset="0"/>
              </a:rPr>
              <a:t>À l'ère du vibe coding, la capacité à comprendre et corriger du code généré par IA devient la compétence la plus précieuse du développeur.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Quand Utiliser le Vibe Coding ?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Intro"/>
          <p:cNvSpPr/>
          <p:nvPr/>
        </p:nvSpPr>
        <p:spPr>
          <a:xfrm>
            <a:off x="182880" y="950000"/>
            <a:ext cx="86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>
                <a:solidFill>
                  <a:srgbClr val="8899BB"/>
                </a:solidFill>
                <a:latin typeface="Calibri" pitchFamily="34" charset="0"/>
              </a:rPr>
              <a:t>Le vibe coding pur est risqué en production — mais il excelle dans 3 scénarios clés :</a:t>
            </a:r>
          </a:p>
        </p:txBody>
      </p:sp>
      <p:sp>
        <p:nvSpPr>
          <p:cNvPr id="11" name="Card11"/>
          <p:cNvSpPr/>
          <p:nvPr/>
        </p:nvSpPr>
        <p:spPr>
          <a:xfrm>
            <a:off x="182880" y="1350000"/>
            <a:ext cx="3800000" cy="600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2" name="CEmo12"/>
          <p:cNvSpPr/>
          <p:nvPr/>
        </p:nvSpPr>
        <p:spPr>
          <a:xfrm>
            <a:off x="182880" y="1350000"/>
            <a:ext cx="52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>
                <a:solidFill>
                  <a:srgbClr val="000000"/>
                </a:solidFill>
              </a:rPr>
              <a:t>⚡</a:t>
            </a:r>
          </a:p>
        </p:txBody>
      </p:sp>
      <p:sp>
        <p:nvSpPr>
          <p:cNvPr id="13" name="CTit13"/>
          <p:cNvSpPr/>
          <p:nvPr/>
        </p:nvSpPr>
        <p:spPr>
          <a:xfrm>
            <a:off x="712880" y="141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>
                <a:solidFill>
                  <a:srgbClr val="FFFFFF"/>
                </a:solidFill>
                <a:latin typeface="Calibri" pitchFamily="34" charset="0"/>
              </a:rPr>
              <a:t>Prototypage Rapide &amp; Hackathons</a:t>
            </a:r>
          </a:p>
        </p:txBody>
      </p:sp>
      <p:sp>
        <p:nvSpPr>
          <p:cNvPr id="14" name="CDes14"/>
          <p:cNvSpPr/>
          <p:nvPr/>
        </p:nvSpPr>
        <p:spPr>
          <a:xfrm>
            <a:off x="712880" y="166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>
                <a:solidFill>
                  <a:srgbClr val="8899BB"/>
                </a:solidFill>
                <a:latin typeface="Calibri" pitchFamily="34" charset="0"/>
              </a:rPr>
              <a:t>Tester 3 approches en un jour ? Le vibe coding le permet. Vitesse &gt; robustesse ici.</a:t>
            </a:r>
          </a:p>
        </p:txBody>
      </p:sp>
      <p:sp>
        <p:nvSpPr>
          <p:cNvPr id="15" name="Card15"/>
          <p:cNvSpPr/>
          <p:nvPr/>
        </p:nvSpPr>
        <p:spPr>
          <a:xfrm>
            <a:off x="182880" y="2100000"/>
            <a:ext cx="3800000" cy="600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6" name="CEmo16"/>
          <p:cNvSpPr/>
          <p:nvPr/>
        </p:nvSpPr>
        <p:spPr>
          <a:xfrm>
            <a:off x="182880" y="2100000"/>
            <a:ext cx="52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>
                <a:solidFill>
                  <a:srgbClr val="000000"/>
                </a:solidFill>
              </a:rPr>
              <a:t>🔧</a:t>
            </a:r>
          </a:p>
        </p:txBody>
      </p:sp>
      <p:sp>
        <p:nvSpPr>
          <p:cNvPr id="17" name="CTit17"/>
          <p:cNvSpPr/>
          <p:nvPr/>
        </p:nvSpPr>
        <p:spPr>
          <a:xfrm>
            <a:off x="712880" y="216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>
                <a:solidFill>
                  <a:srgbClr val="FFFFFF"/>
                </a:solidFill>
                <a:latin typeface="Calibri" pitchFamily="34" charset="0"/>
              </a:rPr>
              <a:t>Scripts Personnels &amp; Outils Internes</a:t>
            </a:r>
          </a:p>
        </p:txBody>
      </p:sp>
      <p:sp>
        <p:nvSpPr>
          <p:cNvPr id="18" name="CDes18"/>
          <p:cNvSpPr/>
          <p:nvPr/>
        </p:nvSpPr>
        <p:spPr>
          <a:xfrm>
            <a:off x="712880" y="241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>
                <a:solidFill>
                  <a:srgbClr val="8899BB"/>
                </a:solidFill>
                <a:latin typeface="Calibri" pitchFamily="34" charset="0"/>
              </a:rPr>
              <a:t>Conversion de fichiers, automatisation, scripts d'analyse — risque bas, gain élevé.</a:t>
            </a:r>
          </a:p>
        </p:txBody>
      </p:sp>
      <p:sp>
        <p:nvSpPr>
          <p:cNvPr id="19" name="Card19"/>
          <p:cNvSpPr/>
          <p:nvPr/>
        </p:nvSpPr>
        <p:spPr>
          <a:xfrm>
            <a:off x="182880" y="2850000"/>
            <a:ext cx="3800000" cy="6000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CEmo20"/>
          <p:cNvSpPr/>
          <p:nvPr/>
        </p:nvSpPr>
        <p:spPr>
          <a:xfrm>
            <a:off x="182880" y="2850000"/>
            <a:ext cx="52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>
                <a:solidFill>
                  <a:srgbClr val="000000"/>
                </a:solidFill>
              </a:rPr>
              <a:t>🌱</a:t>
            </a:r>
          </a:p>
        </p:txBody>
      </p:sp>
      <p:sp>
        <p:nvSpPr>
          <p:cNvPr id="21" name="CTit21"/>
          <p:cNvSpPr/>
          <p:nvPr/>
        </p:nvSpPr>
        <p:spPr>
          <a:xfrm>
            <a:off x="712880" y="291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>
                <a:solidFill>
                  <a:srgbClr val="FFFFFF"/>
                </a:solidFill>
                <a:latin typeface="Calibri" pitchFamily="34" charset="0"/>
              </a:rPr>
              <a:t>Développement Greenfield (avec prudence)</a:t>
            </a:r>
          </a:p>
        </p:txBody>
      </p:sp>
      <p:sp>
        <p:nvSpPr>
          <p:cNvPr id="22" name="CDes22"/>
          <p:cNvSpPr/>
          <p:nvPr/>
        </p:nvSpPr>
        <p:spPr>
          <a:xfrm>
            <a:off x="712880" y="3160000"/>
            <a:ext cx="3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>
                <a:solidFill>
                  <a:srgbClr val="8899BB"/>
                </a:solidFill>
                <a:latin typeface="Calibri" pitchFamily="34" charset="0"/>
              </a:rPr>
              <a:t>Nouveaux projets sans contraintes legacy — vibe d'abord, polish ensuite.</a:t>
            </a:r>
          </a:p>
        </p:txBody>
      </p:sp>
      <p:sp>
        <p:nvSpPr>
          <p:cNvPr id="23" name="WarnBox"/>
          <p:cNvSpPr/>
          <p:nvPr/>
        </p:nvSpPr>
        <p:spPr>
          <a:xfrm>
            <a:off x="5074920" y="1350000"/>
            <a:ext cx="3750000" cy="2400000"/>
          </a:xfrm>
          <a:prstGeom prst="roundRect">
            <a:avLst>
              <a:gd name="adj" fmla="val 5000"/>
            </a:avLst>
          </a:prstGeom>
          <a:solidFill>
            <a:srgbClr val="0A1A0A"/>
          </a:solidFill>
          <a:ln w="180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4" name="WarnTxt"/>
          <p:cNvSpPr/>
          <p:nvPr/>
        </p:nvSpPr>
        <p:spPr>
          <a:xfrm>
            <a:off x="5174920" y="1450000"/>
            <a:ext cx="3550000" cy="22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>
                <a:solidFill>
                  <a:srgbClr val="000000"/>
                </a:solidFill>
              </a:rPr>
              <a:t>✅</a:t>
            </a:r>
          </a:p>
          <a:p>
            <a:pPr marL="0" indent="0" algn="ctr">
              <a:buNone/>
            </a:pPr>
            <a:r>
              <a:rPr lang="fr-FR" sz="2000" b="1">
                <a:solidFill>
                  <a:srgbClr val="10B981"/>
                </a:solidFill>
                <a:latin typeface="Calibri" pitchFamily="34" charset="0"/>
              </a:rPr>
              <a:t>La règle d'or</a:t>
            </a:r>
          </a:p>
          <a:p>
            <a:pPr marL="0" indent="0">
              <a:buNone/>
            </a:pPr>
            <a:r>
              <a:rPr lang="fr-FR" sz="2000" i="1">
                <a:solidFill>
                  <a:srgbClr val="AAFFCC"/>
                </a:solidFill>
                <a:latin typeface="Calibri" pitchFamily="34" charset="0"/>
              </a:rPr>
              <a:t>Vibe coding = vitesse avec risque. Ingénierie assistée par IA = vitesse avec discipline.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igNum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9600" b="1">
                <a:solidFill>
                  <a:srgbClr val="10B981">
                    <a:alpha val="80000"/>
                  </a:srgbClr>
                </a:solidFill>
                <a:latin typeface="Arial Black" pitchFamily="34" charset="0"/>
              </a:rPr>
              <a:t>→</a:t>
            </a:r>
          </a:p>
        </p:txBody>
      </p:sp>
      <p:sp>
        <p:nvSpPr>
          <p:cNvPr id="4" name="Emoji"/>
          <p:cNvSpPr/>
          <p:nvPr/>
        </p:nvSpPr>
        <p:spPr>
          <a:xfrm>
            <a:off x="6583680" y="1754204"/>
            <a:ext cx="2286000" cy="1839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200">
                <a:solidFill>
                  <a:srgbClr val="000000"/>
                </a:solidFill>
              </a:rPr>
              <a:t>🤖</a:t>
            </a:r>
          </a:p>
        </p:txBody>
      </p:sp>
      <p:sp>
        <p:nvSpPr>
          <p:cNvPr id="5" name="Title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800" b="1">
                <a:solidFill>
                  <a:srgbClr val="FFFFFF"/>
                </a:solidFill>
                <a:latin typeface="Arial Black" pitchFamily="34" charset="0"/>
              </a:rPr>
              <a:t>L'Ingénierie Agentique</a:t>
            </a:r>
          </a:p>
        </p:txBody>
      </p:sp>
      <p:sp>
        <p:nvSpPr>
          <p:cNvPr id="6" name="Subtitle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i="1">
                <a:solidFill>
                  <a:srgbClr val="10B981"/>
                </a:solidFill>
                <a:latin typeface="Calibri" pitchFamily="34" charset="0"/>
              </a:rPr>
              <a:t>Diriger l'IA comme un chef de projet</a:t>
            </a:r>
          </a:p>
        </p:txBody>
      </p:sp>
      <p:sp>
        <p:nvSpPr>
          <p:cNvPr id="7" name="Line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L'Ingénierie Agentique — Chef de Projet IA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Bar10"/>
          <p:cNvSpPr/>
          <p:nvPr/>
        </p:nvSpPr>
        <p:spPr>
          <a:xfrm>
            <a:off x="182880" y="1000000"/>
            <a:ext cx="54864" cy="31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Head11"/>
          <p:cNvSpPr/>
          <p:nvPr/>
        </p:nvSpPr>
        <p:spPr>
          <a:xfrm>
            <a:off x="310000" y="10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Qu'est-ce que c'est ?</a:t>
            </a:r>
          </a:p>
        </p:txBody>
      </p:sp>
      <p:sp>
        <p:nvSpPr>
          <p:cNvPr id="12" name="Body12"/>
          <p:cNvSpPr/>
          <p:nvPr/>
        </p:nvSpPr>
        <p:spPr>
          <a:xfrm>
            <a:off x="310000" y="12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Diriger un agent IA pas à pas — vous découpez les tâches, l'IA exécute</a:t>
            </a:r>
          </a:p>
        </p:txBody>
      </p:sp>
      <p:sp>
        <p:nvSpPr>
          <p:cNvPr id="13" name="Bar13"/>
          <p:cNvSpPr/>
          <p:nvPr/>
        </p:nvSpPr>
        <p:spPr>
          <a:xfrm>
            <a:off x="182880" y="1600000"/>
            <a:ext cx="54864" cy="31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16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Votre rôle change</a:t>
            </a:r>
          </a:p>
        </p:txBody>
      </p:sp>
      <p:sp>
        <p:nvSpPr>
          <p:cNvPr id="15" name="Body15"/>
          <p:cNvSpPr/>
          <p:nvPr/>
        </p:nvSpPr>
        <p:spPr>
          <a:xfrm>
            <a:off x="310000" y="18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Au lieu d'écrire du code, vous devenez décompositeur de tâches et vérificateur</a:t>
            </a:r>
          </a:p>
        </p:txBody>
      </p:sp>
      <p:sp>
        <p:nvSpPr>
          <p:cNvPr id="16" name="Bar16"/>
          <p:cNvSpPr/>
          <p:nvPr/>
        </p:nvSpPr>
        <p:spPr>
          <a:xfrm>
            <a:off x="182880" y="2200000"/>
            <a:ext cx="54864" cy="31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22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L'IA agit de façon autonome</a:t>
            </a:r>
          </a:p>
        </p:txBody>
      </p:sp>
      <p:sp>
        <p:nvSpPr>
          <p:cNvPr id="18" name="Body18"/>
          <p:cNvSpPr/>
          <p:nvPr/>
        </p:nvSpPr>
        <p:spPr>
          <a:xfrm>
            <a:off x="310000" y="24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L'agent exécute du code, lance des tests, corrige et itère — seul</a:t>
            </a:r>
          </a:p>
        </p:txBody>
      </p:sp>
      <p:sp>
        <p:nvSpPr>
          <p:cNvPr id="19" name="Bar19"/>
          <p:cNvSpPr/>
          <p:nvPr/>
        </p:nvSpPr>
        <p:spPr>
          <a:xfrm>
            <a:off x="182880" y="2800000"/>
            <a:ext cx="54864" cy="31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Head20"/>
          <p:cNvSpPr/>
          <p:nvPr/>
        </p:nvSpPr>
        <p:spPr>
          <a:xfrm>
            <a:off x="310000" y="280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>
                <a:solidFill>
                  <a:srgbClr val="FFFFFF"/>
                </a:solidFill>
                <a:latin typeface="Calibri" pitchFamily="34" charset="0"/>
              </a:rPr>
              <a:t>Différence avec le vibe coding</a:t>
            </a:r>
          </a:p>
        </p:txBody>
      </p:sp>
      <p:sp>
        <p:nvSpPr>
          <p:cNvPr id="21" name="Body21"/>
          <p:cNvSpPr/>
          <p:nvPr/>
        </p:nvSpPr>
        <p:spPr>
          <a:xfrm>
            <a:off x="310000" y="304000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50">
                <a:solidFill>
                  <a:srgbClr val="8899BB"/>
                </a:solidFill>
                <a:latin typeface="Calibri" pitchFamily="34" charset="0"/>
              </a:rPr>
              <a:t>Vibe = décrire &amp; attendre. Agentique = structurer, guider, vérifier chaque brique</a:t>
            </a:r>
          </a:p>
        </p:txBody>
      </p:sp>
      <p:sp>
        <p:nvSpPr>
          <p:cNvPr id="22" name="AgentBox"/>
          <p:cNvSpPr/>
          <p:nvPr/>
        </p:nvSpPr>
        <p:spPr>
          <a:xfrm>
            <a:off x="5074920" y="1000000"/>
            <a:ext cx="3750000" cy="3700000"/>
          </a:xfrm>
          <a:prstGeom prst="roundRect">
            <a:avLst>
              <a:gd name="adj" fmla="val 5000"/>
            </a:avLst>
          </a:prstGeom>
          <a:solidFill>
            <a:srgbClr val="0A1A10"/>
          </a:solidFill>
          <a:ln w="180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AgentTxt"/>
          <p:cNvSpPr/>
          <p:nvPr/>
        </p:nvSpPr>
        <p:spPr>
          <a:xfrm>
            <a:off x="5174920" y="1100000"/>
            <a:ext cx="3550000" cy="3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sz="3200">
                <a:solidFill>
                  <a:srgbClr val="000000"/>
                </a:solidFill>
              </a:rPr>
              <a:t>🧱</a:t>
            </a:r>
          </a:p>
          <a:p>
            <a:pPr marL="0" indent="0" algn="ctr">
              <a:buNone/>
            </a:pPr>
            <a:r>
              <a:rPr lang="fr-FR" sz="2000" b="1">
                <a:solidFill>
                  <a:srgbClr val="10B981"/>
                </a:solidFill>
                <a:latin typeface="Calibri" pitchFamily="34" charset="0"/>
              </a:rPr>
              <a:t>Brique par brique</a:t>
            </a:r>
          </a:p>
          <a:p>
            <a:pPr marL="0" indent="0">
              <a:buNone/>
            </a:pPr>
            <a:r>
              <a:rPr lang="fr-FR" sz="2000">
                <a:solidFill>
                  <a:srgbClr val="AAFFCC"/>
                </a:solidFill>
                <a:latin typeface="Calibri" pitchFamily="34" charset="0"/>
              </a:rPr>
              <a:t>1° Décomposez la tâche</a:t>
            </a:r>
          </a:p>
          <a:p>
            <a:pPr marL="0" indent="0">
              <a:buNone/>
            </a:pPr>
            <a:r>
              <a:rPr lang="fr-FR" sz="2000">
                <a:solidFill>
                  <a:srgbClr val="AAFFCC"/>
                </a:solidFill>
                <a:latin typeface="Calibri" pitchFamily="34" charset="0"/>
              </a:rPr>
              <a:t>2° Donnez des instructions précises à l'agent</a:t>
            </a:r>
          </a:p>
          <a:p>
            <a:pPr marL="0" indent="0">
              <a:buNone/>
            </a:pPr>
            <a:r>
              <a:rPr lang="fr-FR" sz="2000">
                <a:solidFill>
                  <a:srgbClr val="AAFFCC"/>
                </a:solidFill>
                <a:latin typeface="Calibri" pitchFamily="34" charset="0"/>
              </a:rPr>
              <a:t>3° Vérifiez chaque sortie avant la suite</a:t>
            </a:r>
          </a:p>
          <a:p>
            <a:pPr marL="0" indent="0">
              <a:buNone/>
            </a:pPr>
            <a:r>
              <a:rPr lang="fr-FR" sz="2000">
                <a:solidFill>
                  <a:srgbClr val="AAFFCC"/>
                </a:solidFill>
                <a:latin typeface="Calibri" pitchFamily="34" charset="0"/>
              </a:rPr>
              <a:t>4° Outils : Claude Code, Cursor, Copilot Workspace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>
                <a:solidFill>
                  <a:srgbClr val="7C3AED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Entreprise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Construire des agents IA pour les flux métier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03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 Entreprise — Agents IA à Grande Échelle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182880" y="1033272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Connecter les LLMs aux données métier et aux flux automatisés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2880" y="1691640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IA qui agit — cherche, rédige des emails, met à jour des BDD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54864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36576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sans code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65760" y="2551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plateformes permettent aux non-dev de créer des pipelines IA complexes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92040" y="914400"/>
            <a:ext cx="406908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7" name="Shape 15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6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Exemple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Glean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62356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IA d'entreprise sur tous les outils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56235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2356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Automatisation visuelle des flux avec des nœuds IA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IA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62356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autonomes : recherche, emails, planification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Text 31"/>
          <p:cNvSpPr/>
          <p:nvPr/>
        </p:nvSpPr>
        <p:spPr>
          <a:xfrm>
            <a:off x="56235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 RAG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623560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répond aux questions depuis vos propres documents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>
                <a:solidFill>
                  <a:srgbClr val="059669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Ingénieur IA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nouveau rôle technique qui construit avec l'IA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04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Ingénieur IA — Le Nouveau Rôle Tech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182880" y="1033272"/>
            <a:ext cx="54864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développeur qui construit des produits et systèmes avec les APIs LLM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2880" y="1691640"/>
            <a:ext cx="54864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 du ML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concentre sur l'intégration, pas l'entraînement de modèles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54864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365760" y="22768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en pleine croissance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65760" y="2551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L'un des métiers tech les plus recherchés en ce moment</a:t>
            </a:r>
            <a:endParaRPr lang="en-US" sz="1100"/>
          </a:p>
        </p:txBody>
      </p:sp>
      <p:sp>
        <p:nvSpPr>
          <p:cNvPr id="16" name="Shape 14"/>
          <p:cNvSpPr/>
          <p:nvPr/>
        </p:nvSpPr>
        <p:spPr>
          <a:xfrm>
            <a:off x="4892040" y="914400"/>
            <a:ext cx="406908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7" name="Shape 15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6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Exemple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62356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Intègre les LLMs (OpenAI, Anthropic) dans des produits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56235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/ LlamaIndex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2356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pour créer des applis propulsées par LLMs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données vectorielles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62356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Pinecone, Weaviate — mémoire pour systèmes IA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Text 31"/>
          <p:cNvSpPr/>
          <p:nvPr/>
        </p:nvSpPr>
        <p:spPr>
          <a:xfrm>
            <a:off x="56235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Évals &amp; fine-tuning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623560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et améliorer le comportement des modèles IA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600" b="1">
                <a:solidFill>
                  <a:srgbClr val="D97706">
                    <a:alpha val="8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9600"/>
          </a:p>
        </p:txBody>
      </p:sp>
      <p:sp>
        <p:nvSpPr>
          <p:cNvPr id="5" name="Text 3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Ingénieur Déployé en Avant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Experts techniques intégrés chez les clients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Shape 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Shape 1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Text 2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</a:rPr>
              <a:t>05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Ingénieur Déployé en Avant (FDE)</a:t>
            </a:r>
            <a:endParaRPr lang="en-US" sz="260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Shape 5"/>
          <p:cNvSpPr/>
          <p:nvPr/>
        </p:nvSpPr>
        <p:spPr>
          <a:xfrm>
            <a:off x="182880" y="1033272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quoi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hybride ingénieur/consultant qui travaille avec les clients entreprise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182880" y="1691640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 9"/>
          <p:cNvSpPr/>
          <p:nvPr/>
        </p:nvSpPr>
        <p:spPr>
          <a:xfrm>
            <a:off x="36576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D'où ça vient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9280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Pionnier chez Palantir,  désormais courant dans les entreprises IA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182880" y="2350008"/>
            <a:ext cx="54864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Text 12"/>
          <p:cNvSpPr/>
          <p:nvPr/>
        </p:nvSpPr>
        <p:spPr>
          <a:xfrm>
            <a:off x="347472" y="2339741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mission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365760" y="25511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>
                <a:solidFill>
                  <a:schemeClr val="accent3">
                    <a:lumMod val="60000"/>
                    <a:lumOff val="40000"/>
                  </a:schemeClr>
                </a:solidFill>
              </a:rPr>
              <a:t>F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aire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en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sorte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que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le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produit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d'IA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réponde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réellement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aux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besoins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10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spécifiques</a:t>
            </a:r>
            <a:r>
              <a:rPr lang="en-US" sz="1100">
                <a:solidFill>
                  <a:schemeClr val="accent1">
                    <a:lumMod val="40000"/>
                    <a:lumOff val="60000"/>
                  </a:schemeClr>
                </a:solidFill>
              </a:rPr>
              <a:t> du client</a:t>
            </a:r>
          </a:p>
        </p:txBody>
      </p:sp>
      <p:sp>
        <p:nvSpPr>
          <p:cNvPr id="16" name="Shape 14"/>
          <p:cNvSpPr/>
          <p:nvPr/>
        </p:nvSpPr>
        <p:spPr>
          <a:xfrm>
            <a:off x="4892040" y="914400"/>
            <a:ext cx="4069080" cy="3977640"/>
          </a:xfrm>
          <a:prstGeom prst="rect">
            <a:avLst/>
          </a:prstGeom>
          <a:solidFill>
            <a:srgbClr val="16223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MA"/>
          </a:p>
        </p:txBody>
      </p:sp>
      <p:sp>
        <p:nvSpPr>
          <p:cNvPr id="17" name="Shape 15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8" name="Text 16"/>
          <p:cNvSpPr/>
          <p:nvPr/>
        </p:nvSpPr>
        <p:spPr>
          <a:xfrm>
            <a:off x="4892040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</a:rPr>
              <a:t>Exemple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074920" y="1417320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1" name="Text 19"/>
          <p:cNvSpPr/>
          <p:nvPr/>
        </p:nvSpPr>
        <p:spPr>
          <a:xfrm>
            <a:off x="562356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chez le client</a:t>
            </a:r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5623560" y="1764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Travaille sur site pour déployer des solutions IA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5" name="Text 23"/>
          <p:cNvSpPr/>
          <p:nvPr/>
        </p:nvSpPr>
        <p:spPr>
          <a:xfrm>
            <a:off x="5623560" y="22677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 personnalisées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623560" y="2569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le produit aux flux de travail du client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5074920" y="3026664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9" name="Text 27"/>
          <p:cNvSpPr/>
          <p:nvPr/>
        </p:nvSpPr>
        <p:spPr>
          <a:xfrm>
            <a:off x="5623560" y="3072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Palantir / Anduril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623560" y="337413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 reconnues pour le modèle FDE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5074920" y="3831336"/>
            <a:ext cx="370332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Text 31"/>
          <p:cNvSpPr/>
          <p:nvPr/>
        </p:nvSpPr>
        <p:spPr>
          <a:xfrm>
            <a:off x="5623560" y="38770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passerelle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5623560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les ventes, l'ingénierie et le client</a:t>
            </a:r>
            <a:endParaRPr lang="en-US" sz="950"/>
          </a:p>
        </p:txBody>
      </p:sp>
      <p:sp>
        <p:nvSpPr>
          <p:cNvPr id="35" name="Shape 3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igNum"/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FR" sz="9600" b="1">
                <a:solidFill>
                  <a:srgbClr val="F59E0B">
                    <a:alpha val="80000"/>
                  </a:srgbClr>
                </a:solidFill>
                <a:latin typeface="Arial Black" pitchFamily="34" charset="0"/>
              </a:rPr>
              <a:t>★</a:t>
            </a:r>
          </a:p>
        </p:txBody>
      </p:sp>
      <p:sp>
        <p:nvSpPr>
          <p:cNvPr id="4" name="Emoji"/>
          <p:cNvSpPr/>
          <p:nvPr/>
        </p:nvSpPr>
        <p:spPr>
          <a:xfrm>
            <a:off x="6583680" y="1097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200">
                <a:solidFill>
                  <a:srgbClr val="000000"/>
                </a:solidFill>
              </a:rPr>
              <a:t>💬</a:t>
            </a:r>
          </a:p>
        </p:txBody>
      </p:sp>
      <p:sp>
        <p:nvSpPr>
          <p:cNvPr id="5" name="Title"/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800" b="1">
                <a:solidFill>
                  <a:srgbClr val="FFFFFF"/>
                </a:solidFill>
                <a:latin typeface="Arial Black" pitchFamily="34" charset="0"/>
              </a:rPr>
              <a:t>L'Art du Prompting</a:t>
            </a:r>
          </a:p>
        </p:txBody>
      </p:sp>
      <p:sp>
        <p:nvSpPr>
          <p:cNvPr id="6" name="Subtitle"/>
          <p:cNvSpPr/>
          <p:nvPr/>
        </p:nvSpPr>
        <p:spPr>
          <a:xfrm>
            <a:off x="2011680" y="192024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i="1">
                <a:solidFill>
                  <a:srgbClr val="F59E0B"/>
                </a:solidFill>
                <a:latin typeface="Calibri" pitchFamily="34" charset="0"/>
              </a:rPr>
              <a:t>5 règles pour obtenir de meilleurs résultats</a:t>
            </a:r>
          </a:p>
        </p:txBody>
      </p:sp>
      <p:sp>
        <p:nvSpPr>
          <p:cNvPr id="7" name="Line"/>
          <p:cNvSpPr/>
          <p:nvPr/>
        </p:nvSpPr>
        <p:spPr>
          <a:xfrm>
            <a:off x="2011680" y="2606040"/>
            <a:ext cx="4572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8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Prompting — Règles 1 &amp; 2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Bar10"/>
          <p:cNvSpPr/>
          <p:nvPr/>
        </p:nvSpPr>
        <p:spPr>
          <a:xfrm>
            <a:off x="167712" y="1263158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Head11"/>
          <p:cNvSpPr/>
          <p:nvPr/>
        </p:nvSpPr>
        <p:spPr>
          <a:xfrm>
            <a:off x="288504" y="1257979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Règle 1 : Utilisez des mots d'instruction clairs</a:t>
            </a:r>
          </a:p>
        </p:txBody>
      </p:sp>
      <p:sp>
        <p:nvSpPr>
          <p:cNvPr id="12" name="Body12"/>
          <p:cNvSpPr/>
          <p:nvPr/>
        </p:nvSpPr>
        <p:spPr>
          <a:xfrm>
            <a:off x="288504" y="1704987"/>
            <a:ext cx="4262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Commencez par un verbe d'action : "Traduis", "Résume", "Écris", "Analyse"...</a:t>
            </a:r>
          </a:p>
        </p:txBody>
      </p:sp>
      <p:sp>
        <p:nvSpPr>
          <p:cNvPr id="13" name="Bar13"/>
          <p:cNvSpPr/>
          <p:nvPr/>
        </p:nvSpPr>
        <p:spPr>
          <a:xfrm>
            <a:off x="174804" y="2198421"/>
            <a:ext cx="54864" cy="31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2205469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Règle 2 : Ne donnez pas trop d'exemples</a:t>
            </a:r>
          </a:p>
        </p:txBody>
      </p:sp>
      <p:sp>
        <p:nvSpPr>
          <p:cNvPr id="15" name="Body15"/>
          <p:cNvSpPr/>
          <p:nvPr/>
        </p:nvSpPr>
        <p:spPr>
          <a:xfrm>
            <a:off x="341000" y="2613816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Les modèles avancés (o1, GPT-4o) comprennent sans exemples,  trop en donner biaise</a:t>
            </a:r>
          </a:p>
        </p:txBody>
      </p:sp>
      <p:sp>
        <p:nvSpPr>
          <p:cNvPr id="16" name="CompBox"/>
          <p:cNvSpPr/>
          <p:nvPr/>
        </p:nvSpPr>
        <p:spPr>
          <a:xfrm>
            <a:off x="5009952" y="1000000"/>
            <a:ext cx="3750000" cy="3700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80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CompTxt"/>
          <p:cNvSpPr/>
          <p:nvPr/>
        </p:nvSpPr>
        <p:spPr>
          <a:xfrm>
            <a:off x="5174920" y="1080000"/>
            <a:ext cx="35500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b="1">
                <a:solidFill>
                  <a:srgbClr val="EF4444"/>
                </a:solidFill>
                <a:latin typeface="Calibri" pitchFamily="34" charset="0"/>
              </a:rPr>
              <a:t>❌ Vague</a:t>
            </a:r>
          </a:p>
          <a:p>
            <a:pPr marL="0" indent="0">
              <a:buNone/>
            </a:pPr>
            <a:r>
              <a:rPr lang="fr-FR" i="1">
                <a:solidFill>
                  <a:srgbClr val="FFAAAA"/>
                </a:solidFill>
                <a:latin typeface="Calibri" pitchFamily="34" charset="0"/>
              </a:rPr>
              <a:t>"résumé du texte suivant ?"</a:t>
            </a:r>
          </a:p>
          <a:p>
            <a:pPr marL="0" indent="0">
              <a:buNone/>
            </a:pPr>
            <a:r>
              <a:rPr lang="fr-FR" b="1">
                <a:solidFill>
                  <a:srgbClr val="10B981"/>
                </a:solidFill>
                <a:latin typeface="Calibri" pitchFamily="34" charset="0"/>
              </a:rPr>
              <a:t>✅ Spécifique</a:t>
            </a:r>
          </a:p>
          <a:p>
            <a:pPr marL="0" indent="0">
              <a:buNone/>
            </a:pPr>
            <a:r>
              <a:rPr lang="fr-FR" i="1">
                <a:solidFill>
                  <a:srgbClr val="AAFFCC"/>
                </a:solidFill>
                <a:latin typeface="Calibri" pitchFamily="34" charset="0"/>
              </a:rPr>
              <a:t>"Résume ce texte en 5 lignes en mettant les mots clés en gras."</a:t>
            </a:r>
          </a:p>
          <a:p>
            <a:pPr marL="0" indent="0">
              <a:buNone/>
            </a:pPr>
            <a:r>
              <a:rPr lang="fr-FR" b="1">
                <a:solidFill>
                  <a:srgbClr val="F59E0B"/>
                </a:solidFill>
                <a:latin typeface="Calibri" pitchFamily="34" charset="0"/>
              </a:rPr>
              <a:t>⚠️ Attention aux prompts trop longs !</a:t>
            </a:r>
          </a:p>
          <a:p>
            <a:pPr marL="0" indent="0">
              <a:buNone/>
            </a:pPr>
            <a:r>
              <a:rPr lang="fr-FR">
                <a:solidFill>
                  <a:srgbClr val="FFDDAA"/>
                </a:solidFill>
                <a:latin typeface="Calibri" pitchFamily="34" charset="0"/>
              </a:rPr>
              <a:t>Trop d'info = bruit = mauvais résultats. Soyez précis sans être verbeux.</a:t>
            </a:r>
          </a:p>
        </p:txBody>
      </p:sp>
      <p:sp>
        <p:nvSpPr>
          <p:cNvPr id="18" name="Bar18"/>
          <p:cNvSpPr/>
          <p:nvPr/>
        </p:nvSpPr>
        <p:spPr>
          <a:xfrm>
            <a:off x="179644" y="3053903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9" name="Head19"/>
          <p:cNvSpPr/>
          <p:nvPr/>
        </p:nvSpPr>
        <p:spPr>
          <a:xfrm>
            <a:off x="319504" y="3037832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Spécifique mais économique</a:t>
            </a:r>
          </a:p>
        </p:txBody>
      </p:sp>
      <p:sp>
        <p:nvSpPr>
          <p:cNvPr id="20" name="Body20"/>
          <p:cNvSpPr/>
          <p:nvPr/>
        </p:nvSpPr>
        <p:spPr>
          <a:xfrm>
            <a:off x="341000" y="3413232"/>
            <a:ext cx="4200000" cy="387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Le but : être précis, pas vague, mais ne pas noyer l'IA d'informations inutiles</a:t>
            </a:r>
          </a:p>
        </p:txBody>
      </p:sp>
      <p:sp>
        <p:nvSpPr>
          <p:cNvPr id="21" name="Bar21"/>
          <p:cNvSpPr/>
          <p:nvPr/>
        </p:nvSpPr>
        <p:spPr>
          <a:xfrm>
            <a:off x="167712" y="3979359"/>
            <a:ext cx="54864" cy="31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2" name="Head22"/>
          <p:cNvSpPr/>
          <p:nvPr/>
        </p:nvSpPr>
        <p:spPr>
          <a:xfrm>
            <a:off x="310000" y="3979359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Changer de sujet = nouveau contexte</a:t>
            </a:r>
          </a:p>
        </p:txBody>
      </p:sp>
      <p:sp>
        <p:nvSpPr>
          <p:cNvPr id="23" name="Body23"/>
          <p:cNvSpPr/>
          <p:nvPr/>
        </p:nvSpPr>
        <p:spPr>
          <a:xfrm>
            <a:off x="372000" y="4402791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Si vous changez de sujet, lancez une nouvelle conversation,  ne mélangez pas les sujets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err="1">
                <a:solidFill>
                  <a:srgbClr val="FFFFFF"/>
                </a:solidFill>
                <a:latin typeface="Arial Black" pitchFamily="34" charset="0"/>
              </a:rPr>
              <a:t>Prompting</a:t>
            </a: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.  Règles 3, 4 &amp; 5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Bar10"/>
          <p:cNvSpPr/>
          <p:nvPr/>
        </p:nvSpPr>
        <p:spPr>
          <a:xfrm>
            <a:off x="182880" y="1662944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Head11"/>
          <p:cNvSpPr/>
          <p:nvPr/>
        </p:nvSpPr>
        <p:spPr>
          <a:xfrm>
            <a:off x="310000" y="1662944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Règle 3 : Décomposez les tâches complexes</a:t>
            </a:r>
          </a:p>
        </p:txBody>
      </p:sp>
      <p:sp>
        <p:nvSpPr>
          <p:cNvPr id="12" name="Body12"/>
          <p:cNvSpPr/>
          <p:nvPr/>
        </p:nvSpPr>
        <p:spPr>
          <a:xfrm>
            <a:off x="310000" y="2137135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Un prompt géant &lt; plusieurs prompts étapés : outline → intro → marketing → conclusion</a:t>
            </a:r>
          </a:p>
        </p:txBody>
      </p:sp>
      <p:sp>
        <p:nvSpPr>
          <p:cNvPr id="13" name="Bar13"/>
          <p:cNvSpPr/>
          <p:nvPr/>
        </p:nvSpPr>
        <p:spPr>
          <a:xfrm>
            <a:off x="192142" y="2609318"/>
            <a:ext cx="54864" cy="310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2528360"/>
            <a:ext cx="4200000" cy="394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Règle 4 : Assignez un rôle à l'IA</a:t>
            </a:r>
          </a:p>
        </p:txBody>
      </p:sp>
      <p:sp>
        <p:nvSpPr>
          <p:cNvPr id="15" name="Body15"/>
          <p:cNvSpPr/>
          <p:nvPr/>
        </p:nvSpPr>
        <p:spPr>
          <a:xfrm>
            <a:off x="310000" y="2786743"/>
            <a:ext cx="4200000" cy="679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"Tu es un expert marketing..." | "Agis comme un dev Python..." | "Tu es un prof..."</a:t>
            </a:r>
          </a:p>
        </p:txBody>
      </p:sp>
      <p:sp>
        <p:nvSpPr>
          <p:cNvPr id="16" name="Bar16"/>
          <p:cNvSpPr/>
          <p:nvPr/>
        </p:nvSpPr>
        <p:spPr>
          <a:xfrm flipH="1">
            <a:off x="210000" y="3561806"/>
            <a:ext cx="54864" cy="47636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3255292"/>
            <a:ext cx="4200000" cy="106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Règle 5 : Itérez, ne comptez pas sur un seul prompt</a:t>
            </a:r>
          </a:p>
        </p:txBody>
      </p:sp>
      <p:sp>
        <p:nvSpPr>
          <p:cNvPr id="18" name="Body18"/>
          <p:cNvSpPr/>
          <p:nvPr/>
        </p:nvSpPr>
        <p:spPr>
          <a:xfrm>
            <a:off x="310000" y="4038172"/>
            <a:ext cx="420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Le premier résultat est rarement parfait — affinez, posez des questions, redéfinissez</a:t>
            </a:r>
          </a:p>
        </p:txBody>
      </p:sp>
      <p:sp>
        <p:nvSpPr>
          <p:cNvPr id="19" name="StepBox"/>
          <p:cNvSpPr/>
          <p:nvPr/>
        </p:nvSpPr>
        <p:spPr>
          <a:xfrm>
            <a:off x="5074920" y="1000000"/>
            <a:ext cx="3750000" cy="3700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80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StepTxt"/>
          <p:cNvSpPr/>
          <p:nvPr/>
        </p:nvSpPr>
        <p:spPr>
          <a:xfrm>
            <a:off x="5174920" y="1080000"/>
            <a:ext cx="3550000" cy="35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fr-FR" b="1">
                <a:solidFill>
                  <a:srgbClr val="7C3AED"/>
                </a:solidFill>
                <a:latin typeface="Calibri" pitchFamily="34" charset="0"/>
              </a:rPr>
              <a:t>Exemple — Plan Business</a:t>
            </a:r>
          </a:p>
          <a:p>
            <a:pPr marL="0" indent="0">
              <a:buNone/>
            </a:pPr>
            <a:r>
              <a:rPr lang="fr-FR">
                <a:solidFill>
                  <a:srgbClr val="CCAAFF"/>
                </a:solidFill>
                <a:latin typeface="Calibri" pitchFamily="34" charset="0"/>
              </a:rPr>
              <a:t>① "Aide-moi à faire un plan business pour une appli de livraison de nourriture"</a:t>
            </a:r>
          </a:p>
          <a:p>
            <a:pPr marL="0" indent="0">
              <a:buNone/>
            </a:pPr>
            <a:r>
              <a:rPr lang="fr-FR">
                <a:solidFill>
                  <a:srgbClr val="CCAAFF"/>
                </a:solidFill>
                <a:latin typeface="Calibri" pitchFamily="34" charset="0"/>
              </a:rPr>
              <a:t>② "Maintenant écris l'introduction"</a:t>
            </a:r>
          </a:p>
          <a:p>
            <a:pPr marL="0" indent="0">
              <a:buNone/>
            </a:pPr>
            <a:r>
              <a:rPr lang="fr-FR">
                <a:solidFill>
                  <a:srgbClr val="CCAAFF"/>
                </a:solidFill>
                <a:latin typeface="Calibri" pitchFamily="34" charset="0"/>
              </a:rPr>
              <a:t>③ "Maintenant la stratégie marketing"</a:t>
            </a:r>
          </a:p>
          <a:p>
            <a:pPr marL="0" indent="0">
              <a:buNone/>
            </a:pPr>
            <a:r>
              <a:rPr lang="fr-FR">
                <a:solidFill>
                  <a:srgbClr val="CCAAFF"/>
                </a:solidFill>
                <a:latin typeface="Calibri" pitchFamily="34" charset="0"/>
              </a:rPr>
              <a:t>④ "Maintenant les projections financières"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Bar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BadgeBg"/>
          <p:cNvSpPr/>
          <p:nvPr/>
        </p:nvSpPr>
        <p:spPr>
          <a:xfrm>
            <a:off x="182880" y="16459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4" name="BadgeTxt"/>
          <p:cNvSpPr/>
          <p:nvPr/>
        </p:nvSpPr>
        <p:spPr>
          <a:xfrm>
            <a:off x="182880" y="164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5" name="SlideTitle"/>
          <p:cNvSpPr/>
          <p:nvPr/>
        </p:nvSpPr>
        <p:spPr>
          <a:xfrm>
            <a:off x="804672" y="16459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>
                <a:solidFill>
                  <a:srgbClr val="FFFFFF"/>
                </a:solidFill>
                <a:latin typeface="Arial Black" pitchFamily="34" charset="0"/>
              </a:rPr>
              <a:t>L'IA est une Machine. Pas un Humain !!</a:t>
            </a:r>
          </a:p>
        </p:txBody>
      </p:sp>
      <p:sp>
        <p:nvSpPr>
          <p:cNvPr id="6" name="Divider"/>
          <p:cNvSpPr/>
          <p:nvPr/>
        </p:nvSpPr>
        <p:spPr>
          <a:xfrm>
            <a:off x="182880" y="822960"/>
            <a:ext cx="8778240" cy="274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7" name="BotBar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Intro"/>
          <p:cNvSpPr/>
          <p:nvPr/>
        </p:nvSpPr>
        <p:spPr>
          <a:xfrm>
            <a:off x="182880" y="900000"/>
            <a:ext cx="465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i="1">
                <a:solidFill>
                  <a:srgbClr val="8899BB"/>
                </a:solidFill>
                <a:latin typeface="Calibri" pitchFamily="34" charset="0"/>
              </a:rPr>
              <a:t>L'IA ne vous "comprend" pas !  elle prédit. Donnez-lui les bonnes infos, pas trop, pas trop peu.</a:t>
            </a:r>
          </a:p>
        </p:txBody>
      </p:sp>
      <p:sp>
        <p:nvSpPr>
          <p:cNvPr id="13" name="Bar13"/>
          <p:cNvSpPr/>
          <p:nvPr/>
        </p:nvSpPr>
        <p:spPr>
          <a:xfrm>
            <a:off x="182880" y="1380000"/>
            <a:ext cx="54864" cy="310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4" name="Head14"/>
          <p:cNvSpPr/>
          <p:nvPr/>
        </p:nvSpPr>
        <p:spPr>
          <a:xfrm>
            <a:off x="310000" y="13800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Informations insuffisantes</a:t>
            </a:r>
          </a:p>
        </p:txBody>
      </p:sp>
      <p:sp>
        <p:nvSpPr>
          <p:cNvPr id="15" name="Body15"/>
          <p:cNvSpPr/>
          <p:nvPr/>
        </p:nvSpPr>
        <p:spPr>
          <a:xfrm>
            <a:off x="372000" y="1773139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L'IA invente, hallucine, ou vous donne une réponse générique inutile</a:t>
            </a:r>
          </a:p>
        </p:txBody>
      </p:sp>
      <p:sp>
        <p:nvSpPr>
          <p:cNvPr id="16" name="Bar16"/>
          <p:cNvSpPr/>
          <p:nvPr/>
        </p:nvSpPr>
        <p:spPr>
          <a:xfrm>
            <a:off x="176624" y="2261750"/>
            <a:ext cx="54864" cy="310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Head17"/>
          <p:cNvSpPr/>
          <p:nvPr/>
        </p:nvSpPr>
        <p:spPr>
          <a:xfrm>
            <a:off x="310000" y="2228493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Trop d'informations</a:t>
            </a:r>
          </a:p>
        </p:txBody>
      </p:sp>
      <p:sp>
        <p:nvSpPr>
          <p:cNvPr id="18" name="Body18"/>
          <p:cNvSpPr/>
          <p:nvPr/>
        </p:nvSpPr>
        <p:spPr>
          <a:xfrm>
            <a:off x="396801" y="2598101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L'IA se perd dans le bruit , elle perd les éléments importants de votre contexte</a:t>
            </a:r>
          </a:p>
        </p:txBody>
      </p:sp>
      <p:sp>
        <p:nvSpPr>
          <p:cNvPr id="19" name="Bar19"/>
          <p:cNvSpPr/>
          <p:nvPr/>
        </p:nvSpPr>
        <p:spPr>
          <a:xfrm>
            <a:off x="171971" y="3064082"/>
            <a:ext cx="54864" cy="310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Head20"/>
          <p:cNvSpPr/>
          <p:nvPr/>
        </p:nvSpPr>
        <p:spPr>
          <a:xfrm>
            <a:off x="310000" y="306881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Personnalite factuelle vs émotionnelle</a:t>
            </a:r>
          </a:p>
        </p:txBody>
      </p:sp>
      <p:sp>
        <p:nvSpPr>
          <p:cNvPr id="21" name="Body21"/>
          <p:cNvSpPr/>
          <p:nvPr/>
        </p:nvSpPr>
        <p:spPr>
          <a:xfrm>
            <a:off x="310000" y="347389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Certains bots (Facts Not Feelings) évitent les fausses émotions ,  la vraie valeur : les données</a:t>
            </a:r>
          </a:p>
        </p:txBody>
      </p:sp>
      <p:sp>
        <p:nvSpPr>
          <p:cNvPr id="22" name="Bar22"/>
          <p:cNvSpPr/>
          <p:nvPr/>
        </p:nvSpPr>
        <p:spPr>
          <a:xfrm>
            <a:off x="161548" y="3998669"/>
            <a:ext cx="54864" cy="310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3" name="Head23"/>
          <p:cNvSpPr/>
          <p:nvPr/>
        </p:nvSpPr>
        <p:spPr>
          <a:xfrm>
            <a:off x="310000" y="4013500"/>
            <a:ext cx="4200000" cy="2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600" b="1">
                <a:solidFill>
                  <a:srgbClr val="FFFFFF"/>
                </a:solidFill>
                <a:latin typeface="Calibri" pitchFamily="34" charset="0"/>
              </a:rPr>
              <a:t>La clé : contexte précis et économique</a:t>
            </a:r>
          </a:p>
        </p:txBody>
      </p:sp>
      <p:sp>
        <p:nvSpPr>
          <p:cNvPr id="24" name="Body24"/>
          <p:cNvSpPr/>
          <p:nvPr/>
        </p:nvSpPr>
        <p:spPr>
          <a:xfrm>
            <a:off x="310000" y="4407780"/>
            <a:ext cx="42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8899BB"/>
                </a:solidFill>
                <a:latin typeface="Calibri" pitchFamily="34" charset="0"/>
              </a:rPr>
              <a:t>Ni vague, ni verbeux. Un bon prompt = la bonne info, au bon moment, dans la bonne forme</a:t>
            </a:r>
          </a:p>
        </p:txBody>
      </p:sp>
      <p:pic>
        <p:nvPicPr>
          <p:cNvPr id="25" name="MemeVibeCoding"/>
          <p:cNvPicPr/>
          <p:nvPr/>
        </p:nvPicPr>
        <p:blipFill>
          <a:blip r:embed="rId2"/>
          <a:stretch>
            <a:fillRect/>
          </a:stretch>
        </p:blipFill>
        <p:spPr>
          <a:xfrm>
            <a:off x="5074920" y="1050000"/>
            <a:ext cx="3700000" cy="3470000"/>
          </a:xfrm>
          <a:prstGeom prst="roundRect">
            <a:avLst>
              <a:gd name="adj" fmla="val 5000"/>
            </a:avLst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po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Summary: 5 Façons d'Utiliser les LLMs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877824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502920" cy="685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01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804672" y="9144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804672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Tout le monde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3474720" y="1005840"/>
            <a:ext cx="18288" cy="41148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0" name="Text 8"/>
          <p:cNvSpPr/>
          <p:nvPr/>
        </p:nvSpPr>
        <p:spPr>
          <a:xfrm>
            <a:off x="3611880" y="103327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clés : ChatGPT, Claude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182880" y="1645920"/>
            <a:ext cx="877824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2" name="Shape 10"/>
          <p:cNvSpPr/>
          <p:nvPr/>
        </p:nvSpPr>
        <p:spPr>
          <a:xfrm>
            <a:off x="182880" y="1645920"/>
            <a:ext cx="502920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3" name="Text 11"/>
          <p:cNvSpPr/>
          <p:nvPr/>
        </p:nvSpPr>
        <p:spPr>
          <a:xfrm>
            <a:off x="182880" y="1645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02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804672" y="1691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804672" y="20116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Développeurs &amp; créateurs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3474720" y="1783080"/>
            <a:ext cx="18288" cy="41148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7" name="Text 15"/>
          <p:cNvSpPr/>
          <p:nvPr/>
        </p:nvSpPr>
        <p:spPr>
          <a:xfrm>
            <a:off x="3611880" y="181051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clés : Cursor, Copilot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182880" y="2423160"/>
            <a:ext cx="877824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9" name="Shape 17"/>
          <p:cNvSpPr/>
          <p:nvPr/>
        </p:nvSpPr>
        <p:spPr>
          <a:xfrm>
            <a:off x="182880" y="2423160"/>
            <a:ext cx="502920" cy="685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0" name="Text 18"/>
          <p:cNvSpPr/>
          <p:nvPr/>
        </p:nvSpPr>
        <p:spPr>
          <a:xfrm>
            <a:off x="182880" y="242316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03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04672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Entreprise</a:t>
            </a:r>
            <a:endParaRPr lang="en-US" sz="1300"/>
          </a:p>
        </p:txBody>
      </p:sp>
      <p:sp>
        <p:nvSpPr>
          <p:cNvPr id="22" name="Text 20"/>
          <p:cNvSpPr/>
          <p:nvPr/>
        </p:nvSpPr>
        <p:spPr>
          <a:xfrm>
            <a:off x="804672" y="27889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Équipes métier</a:t>
            </a:r>
            <a:endParaRPr lang="en-US" sz="950"/>
          </a:p>
        </p:txBody>
      </p:sp>
      <p:sp>
        <p:nvSpPr>
          <p:cNvPr id="23" name="Shape 21"/>
          <p:cNvSpPr/>
          <p:nvPr/>
        </p:nvSpPr>
        <p:spPr>
          <a:xfrm>
            <a:off x="3474720" y="2560320"/>
            <a:ext cx="18288" cy="41148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4" name="Text 22"/>
          <p:cNvSpPr/>
          <p:nvPr/>
        </p:nvSpPr>
        <p:spPr>
          <a:xfrm>
            <a:off x="3611880" y="258775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clés : Glean, n8n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182880" y="3200400"/>
            <a:ext cx="877824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6" name="Shape 24"/>
          <p:cNvSpPr/>
          <p:nvPr/>
        </p:nvSpPr>
        <p:spPr>
          <a:xfrm>
            <a:off x="182880" y="3200400"/>
            <a:ext cx="502920" cy="685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27" name="Text 25"/>
          <p:cNvSpPr/>
          <p:nvPr/>
        </p:nvSpPr>
        <p:spPr>
          <a:xfrm>
            <a:off x="182880" y="320040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04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804672" y="3246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IA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804672" y="3566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Développeurs techniques</a:t>
            </a:r>
            <a:endParaRPr lang="en-US" sz="950"/>
          </a:p>
        </p:txBody>
      </p:sp>
      <p:sp>
        <p:nvSpPr>
          <p:cNvPr id="30" name="Shape 28"/>
          <p:cNvSpPr/>
          <p:nvPr/>
        </p:nvSpPr>
        <p:spPr>
          <a:xfrm>
            <a:off x="3474720" y="3337560"/>
            <a:ext cx="18288" cy="41148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1" name="Text 29"/>
          <p:cNvSpPr/>
          <p:nvPr/>
        </p:nvSpPr>
        <p:spPr>
          <a:xfrm>
            <a:off x="3611880" y="33649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clés : LangChain, APIs</a:t>
            </a:r>
            <a:endParaRPr lang="en-US" sz="1100"/>
          </a:p>
        </p:txBody>
      </p:sp>
      <p:sp>
        <p:nvSpPr>
          <p:cNvPr id="32" name="Shape 30"/>
          <p:cNvSpPr/>
          <p:nvPr/>
        </p:nvSpPr>
        <p:spPr>
          <a:xfrm>
            <a:off x="182880" y="3977640"/>
            <a:ext cx="8778240" cy="685800"/>
          </a:xfrm>
          <a:prstGeom prst="rect">
            <a:avLst/>
          </a:prstGeom>
          <a:solidFill>
            <a:srgbClr val="16223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3" name="Shape 31"/>
          <p:cNvSpPr/>
          <p:nvPr/>
        </p:nvSpPr>
        <p:spPr>
          <a:xfrm>
            <a:off x="182880" y="3977640"/>
            <a:ext cx="50292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4" name="Text 32"/>
          <p:cNvSpPr/>
          <p:nvPr/>
        </p:nvSpPr>
        <p:spPr>
          <a:xfrm>
            <a:off x="182880" y="397764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</a:rPr>
              <a:t>05</a:t>
            </a:r>
            <a:endParaRPr lang="en-US" sz="1300"/>
          </a:p>
        </p:txBody>
      </p:sp>
      <p:sp>
        <p:nvSpPr>
          <p:cNvPr id="35" name="Text 33"/>
          <p:cNvSpPr/>
          <p:nvPr/>
        </p:nvSpPr>
        <p:spPr>
          <a:xfrm>
            <a:off x="804672" y="4023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Ingénieur FD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804672" y="4343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: Consultants hybrides</a:t>
            </a:r>
            <a:endParaRPr lang="en-US" sz="950"/>
          </a:p>
        </p:txBody>
      </p:sp>
      <p:sp>
        <p:nvSpPr>
          <p:cNvPr id="37" name="Shape 35"/>
          <p:cNvSpPr/>
          <p:nvPr/>
        </p:nvSpPr>
        <p:spPr>
          <a:xfrm>
            <a:off x="3474720" y="4114800"/>
            <a:ext cx="18288" cy="411480"/>
          </a:xfrm>
          <a:prstGeom prst="rect">
            <a:avLst/>
          </a:prstGeom>
          <a:solidFill>
            <a:srgbClr val="8899BB"/>
          </a:solidFill>
          <a:ln w="12700">
            <a:solidFill>
              <a:srgbClr val="8899BB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38" name="Text 36"/>
          <p:cNvSpPr/>
          <p:nvPr/>
        </p:nvSpPr>
        <p:spPr>
          <a:xfrm>
            <a:off x="3611880" y="414223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 clés : Modèle Palantir</a:t>
            </a:r>
            <a:endParaRPr lang="en-US" sz="1100"/>
          </a:p>
        </p:txBody>
      </p:sp>
      <p:sp>
        <p:nvSpPr>
          <p:cNvPr id="39" name="Shape 3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E3C67D-FD3E-2E03-DEDD-60B1F3F09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gNum">
            <a:extLst>
              <a:ext uri="{FF2B5EF4-FFF2-40B4-BE49-F238E27FC236}">
                <a16:creationId xmlns:a16="http://schemas.microsoft.com/office/drawing/2014/main" id="{EECCB92A-F629-A3A6-8C0D-60C00E410327}"/>
              </a:ext>
            </a:extLst>
          </p:cNvPr>
          <p:cNvSpPr/>
          <p:nvPr/>
        </p:nvSpPr>
        <p:spPr>
          <a:xfrm>
            <a:off x="365760" y="82296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fr-FR" sz="9600" b="1">
              <a:solidFill>
                <a:srgbClr val="F59E0B">
                  <a:alpha val="80000"/>
                </a:srgbClr>
              </a:solidFill>
              <a:latin typeface="Arial Black" pitchFamily="34" charset="0"/>
            </a:endParaRPr>
          </a:p>
        </p:txBody>
      </p:sp>
      <p:sp>
        <p:nvSpPr>
          <p:cNvPr id="4" name="Emoji">
            <a:extLst>
              <a:ext uri="{FF2B5EF4-FFF2-40B4-BE49-F238E27FC236}">
                <a16:creationId xmlns:a16="http://schemas.microsoft.com/office/drawing/2014/main" id="{69A679B3-0E86-95CD-6535-A9AE56A8F79E}"/>
              </a:ext>
            </a:extLst>
          </p:cNvPr>
          <p:cNvSpPr/>
          <p:nvPr/>
        </p:nvSpPr>
        <p:spPr>
          <a:xfrm>
            <a:off x="6583680" y="10972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7200">
              <a:solidFill>
                <a:srgbClr val="000000"/>
              </a:solidFill>
            </a:endParaRP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3F231B3E-B728-4E08-C910-2116216AA416}"/>
              </a:ext>
            </a:extLst>
          </p:cNvPr>
          <p:cNvSpPr/>
          <p:nvPr/>
        </p:nvSpPr>
        <p:spPr>
          <a:xfrm>
            <a:off x="2011680" y="10058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3800" b="1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9AE645A-91AD-45BE-63D8-B7167A380256}"/>
              </a:ext>
            </a:extLst>
          </p:cNvPr>
          <p:cNvSpPr/>
          <p:nvPr/>
        </p:nvSpPr>
        <p:spPr>
          <a:xfrm>
            <a:off x="3851366" y="-6531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3600" i="1">
                <a:solidFill>
                  <a:srgbClr val="FF0000"/>
                </a:solidFill>
                <a:latin typeface="Calibri" pitchFamily="34" charset="0"/>
              </a:rPr>
              <a:t>NOTE</a:t>
            </a:r>
            <a:r>
              <a:rPr lang="fr-FR" sz="1600" i="1">
                <a:solidFill>
                  <a:srgbClr val="F59E0B"/>
                </a:solidFill>
                <a:latin typeface="Calibri" pitchFamily="34" charset="0"/>
              </a:rPr>
              <a:t> </a:t>
            </a:r>
          </a:p>
        </p:txBody>
      </p:sp>
      <p:sp>
        <p:nvSpPr>
          <p:cNvPr id="7" name="Line">
            <a:extLst>
              <a:ext uri="{FF2B5EF4-FFF2-40B4-BE49-F238E27FC236}">
                <a16:creationId xmlns:a16="http://schemas.microsoft.com/office/drawing/2014/main" id="{E2FE30B7-1A70-64AD-9D4F-5804FA9532AF}"/>
              </a:ext>
            </a:extLst>
          </p:cNvPr>
          <p:cNvSpPr/>
          <p:nvPr/>
        </p:nvSpPr>
        <p:spPr>
          <a:xfrm>
            <a:off x="1066800" y="697230"/>
            <a:ext cx="7010400" cy="68581"/>
          </a:xfrm>
          <a:prstGeom prst="rect">
            <a:avLst/>
          </a:prstGeom>
          <a:solidFill>
            <a:srgbClr val="FF000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n-M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C6DE8A-1B9A-C21F-CF98-235D81A9F1D5}"/>
              </a:ext>
            </a:extLst>
          </p:cNvPr>
          <p:cNvSpPr txBox="1"/>
          <p:nvPr/>
        </p:nvSpPr>
        <p:spPr>
          <a:xfrm>
            <a:off x="620486" y="1197429"/>
            <a:ext cx="77919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Faite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 par IA. Pensée par </a:t>
            </a:r>
            <a:r>
              <a:rPr lang="en-US" sz="2800" b="1" dirty="0" err="1">
                <a:solidFill>
                  <a:schemeClr val="bg2">
                    <a:lumMod val="50000"/>
                  </a:schemeClr>
                </a:solidFill>
              </a:rPr>
              <a:t>humain</a:t>
            </a:r>
            <a:r>
              <a:rPr lang="en-US" sz="2800" b="1" dirty="0">
                <a:solidFill>
                  <a:schemeClr val="bg2">
                    <a:lumMod val="50000"/>
                  </a:schemeClr>
                </a:solidFill>
              </a:rPr>
              <a:t>.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 Le design, la mise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en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page, la structure,  tout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généré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en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quelques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minutes. Ce temps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économisé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?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Investi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dans la recherche et les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idées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derrière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chaque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slide. L'IA ne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remplace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pas la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réflexion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. Elle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libère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du temps pour </a:t>
            </a:r>
            <a:r>
              <a:rPr lang="en-US" sz="2800" dirty="0" err="1">
                <a:solidFill>
                  <a:schemeClr val="bg2">
                    <a:lumMod val="50000"/>
                  </a:schemeClr>
                </a:solidFill>
              </a:rPr>
              <a:t>en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</a:rPr>
              <a:t> faire plus </a:t>
            </a:r>
            <a:r>
              <a:rPr lang="en-US" sz="2800" dirty="0">
                <a:solidFill>
                  <a:schemeClr val="bg2">
                    <a:lumMod val="50000"/>
                  </a:schemeClr>
                </a:solidFill>
                <a:sym typeface="Wingdings" pitchFamily="2" charset="2"/>
              </a:rPr>
              <a:t> </a:t>
            </a:r>
            <a:endParaRPr lang="en-MA" sz="2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87A3BD-5010-9B38-E655-E4295E62D4C7}"/>
              </a:ext>
            </a:extLst>
          </p:cNvPr>
          <p:cNvSpPr txBox="1"/>
          <p:nvPr/>
        </p:nvSpPr>
        <p:spPr>
          <a:xfrm>
            <a:off x="5998028" y="4615543"/>
            <a:ext cx="3971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A" sz="2000" dirty="0">
                <a:solidFill>
                  <a:schemeClr val="bg2">
                    <a:lumMod val="50000"/>
                  </a:schemeClr>
                </a:solidFill>
              </a:rPr>
              <a:t>Par ELHARCHAOUI Hiba </a:t>
            </a:r>
          </a:p>
        </p:txBody>
      </p:sp>
    </p:spTree>
    <p:extLst>
      <p:ext uri="{BB962C8B-B14F-4D97-AF65-F5344CB8AC3E}">
        <p14:creationId xmlns:p14="http://schemas.microsoft.com/office/powerpoint/2010/main" val="364192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1712</Words>
  <Application>Microsoft Macintosh PowerPoint</Application>
  <PresentationFormat>On-screen Show (16:9)</PresentationFormat>
  <Paragraphs>268</Paragraphs>
  <Slides>24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Arial Black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Ways to Use LLMs</dc:title>
  <dc:subject>PptxGenJS Presentation</dc:subject>
  <dc:creator>PptxGenJS</dc:creator>
  <cp:lastModifiedBy>EL HARCHAOUI HIBA</cp:lastModifiedBy>
  <cp:revision>2</cp:revision>
  <dcterms:created xsi:type="dcterms:W3CDTF">2026-03-19T12:34:32Z</dcterms:created>
  <dcterms:modified xsi:type="dcterms:W3CDTF">2026-05-13T22:56:24Z</dcterms:modified>
</cp:coreProperties>
</file>